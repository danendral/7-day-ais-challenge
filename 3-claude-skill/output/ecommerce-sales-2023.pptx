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Month ($)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770971</c:v>
                </c:pt>
                <c:pt idx="1">
                  <c:v>650847</c:v>
                </c:pt>
                <c:pt idx="2">
                  <c:v>880377</c:v>
                </c:pt>
                <c:pt idx="3">
                  <c:v>691771</c:v>
                </c:pt>
                <c:pt idx="4">
                  <c:v>676208</c:v>
                </c:pt>
                <c:pt idx="5">
                  <c:v>682304</c:v>
                </c:pt>
                <c:pt idx="6">
                  <c:v>715697</c:v>
                </c:pt>
                <c:pt idx="7">
                  <c:v>942154</c:v>
                </c:pt>
                <c:pt idx="8">
                  <c:v>899960</c:v>
                </c:pt>
                <c:pt idx="9">
                  <c:v>686775</c:v>
                </c:pt>
                <c:pt idx="10">
                  <c:v>845443</c:v>
                </c:pt>
                <c:pt idx="11">
                  <c:v>867440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Category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Sheet1!$A$2:$A$9</c:f>
              <c:strCache>
                <c:ptCount val="8"/>
                <c:pt idx="0">
                  <c:v>Clothing</c:v>
                </c:pt>
                <c:pt idx="1">
                  <c:v>Books</c:v>
                </c:pt>
                <c:pt idx="2">
                  <c:v>Sports</c:v>
                </c:pt>
                <c:pt idx="3">
                  <c:v>Home &amp; Garden</c:v>
                </c:pt>
                <c:pt idx="4">
                  <c:v>Toys</c:v>
                </c:pt>
                <c:pt idx="5">
                  <c:v>Beauty</c:v>
                </c:pt>
                <c:pt idx="6">
                  <c:v>Electronics</c:v>
                </c:pt>
                <c:pt idx="7">
                  <c:v>Automotive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1314771</c:v>
                </c:pt>
                <c:pt idx="1">
                  <c:v>1240825</c:v>
                </c:pt>
                <c:pt idx="2">
                  <c:v>1196914</c:v>
                </c:pt>
                <c:pt idx="3">
                  <c:v>1153839</c:v>
                </c:pt>
                <c:pt idx="4">
                  <c:v>1137737</c:v>
                </c:pt>
                <c:pt idx="5">
                  <c:v>1134584</c:v>
                </c:pt>
                <c:pt idx="6">
                  <c:v>1076209</c:v>
                </c:pt>
                <c:pt idx="7">
                  <c:v>1055068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Region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</c:v>
                </c:pt>
                <c:pt idx="4">
                  <c:v>Asia Pacific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2080458</c:v>
                </c:pt>
                <c:pt idx="1">
                  <c:v>2078712</c:v>
                </c:pt>
                <c:pt idx="2">
                  <c:v>1887268</c:v>
                </c:pt>
                <c:pt idx="3">
                  <c:v>1658966</c:v>
                </c:pt>
                <c:pt idx="4">
                  <c:v>1604542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Sales Channel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Marketplace</c:v>
                </c:pt>
                <c:pt idx="1">
                  <c:v>Mobile App</c:v>
                </c:pt>
                <c:pt idx="2">
                  <c:v>In-Store</c:v>
                </c:pt>
                <c:pt idx="3">
                  <c:v>Online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2586429</c:v>
                </c:pt>
                <c:pt idx="1">
                  <c:v>2326085</c:v>
                </c:pt>
                <c:pt idx="2">
                  <c:v>2205003</c:v>
                </c:pt>
                <c:pt idx="3">
                  <c:v>2192429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Customer Segment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Churned</c:v>
                </c:pt>
                <c:pt idx="1">
                  <c:v>Returning</c:v>
                </c:pt>
                <c:pt idx="2">
                  <c:v>Premium</c:v>
                </c:pt>
                <c:pt idx="3">
                  <c:v>New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2468656</c:v>
                </c:pt>
                <c:pt idx="1">
                  <c:v>2394179</c:v>
                </c:pt>
                <c:pt idx="2">
                  <c:v>2298787</c:v>
                </c:pt>
                <c:pt idx="3">
                  <c:v>2148325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E-Commerce Sales Performance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DC3E6"/>
                </a:solidFill>
                <a:latin typeface="Calibri"/>
              </a:defRPr>
            </a:pPr>
            <a:r>
              <a:t>1,337 Orders · $9.31M Total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DC3E6"/>
                </a:solidFill>
                <a:latin typeface="Calibri"/>
              </a:defRPr>
            </a:pPr>
            <a:r>
              <a:t>Full Year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Business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Total Revenue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$9.31M</a:t>
            </a:r>
          </a:p>
        </p:txBody>
      </p:sp>
      <p:sp>
        <p:nvSpPr>
          <p:cNvPr id="6" name="Rectangle 5"/>
          <p:cNvSpPr/>
          <p:nvPr/>
        </p:nvSpPr>
        <p:spPr>
          <a:xfrm>
            <a:off x="21182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Total Orders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1,337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6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Units Sold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13,853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Return Rate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5.85%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04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Avg Rating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3.03 /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78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Peak Month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Aug 2023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$942K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Aug–Sep 2023 drove $1.84M (19.8% of annual revenue) — strongest stretch of the year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Feb 2023 was the weakest month at $651K — 31% below the August peak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Churned customers represent 26.5% of revenue ($2.47M) — highest of any segment, signaling retention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Monthly Revenue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Revenue peaked in Aug ($942K) and dipped in Feb ($651K). Q4 recovery strong with Nov–Dec averaging $856K.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Revenue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Categories are evenly distributed (11–14% each). North America and Latin America are near-tied at ~22% 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Sales Channels &amp; Customer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Marketplace leads channels at 27.8%. Churned segment at 26.5% is the largest — a key retention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Top Products &amp; Payment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81047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#1 Product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Sneakers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$322K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#2 Product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LEGO Set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$306K</a:t>
            </a:r>
          </a:p>
        </p:txBody>
      </p:sp>
      <p:sp>
        <p:nvSpPr>
          <p:cNvPr id="7" name="Rectangle 6"/>
          <p:cNvSpPr/>
          <p:nvPr/>
        </p:nvSpPr>
        <p:spPr>
          <a:xfrm>
            <a:off x="7650327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#3 Product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Cookbook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$303K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Top 3 products (Sneakers, LEGO Set, Cookbook) account for $930K — 10% of total revenue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Crypto is the #1 payment method at 23.1% ($2.15M), followed closely by Credit Card (21.7%)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Buy Now Pay Later is the smallest share at 15.9% ($1.48M) — room to grow with flexible payment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Payment Mix:</a:t>
            </a:r>
            <a:br/>
            <a:r>
              <a:t>Crypto 23.1%</a:t>
            </a:r>
            <a:br/>
            <a:r>
              <a:t>Credit Card 21.7%</a:t>
            </a:r>
            <a:br/>
            <a:r>
              <a:t>Bank Transfer 20.9%</a:t>
            </a:r>
            <a:br/>
            <a:r>
              <a:t>PayPal 18.5%</a:t>
            </a:r>
            <a:br/>
            <a:r>
              <a:t>BNPL 15.9%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1371600"/>
            <a:ext cx="1828800" cy="3657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Revenue is well-diversified across all 8 categories (11–14% each) — no single category dependency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North America and Latin America are the top two regions, contributing 44.6% of revenue combined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Churned customers are the largest segment at 26.5% — retention programs could recover significant revenue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Aug–Sep peak ($1.84M) and Q4 strong close ($1.71M) suggest seasonal demand patterns worth planning for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5.85% return rate and average rating of 3.03/5 indicate product quality and fulfillment improvements are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DC3E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Launch win-back campaigns targeting the Churned segment ($2.47M at risk)</a:t>
            </a:r>
          </a:p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Investigate low customer rating (3.03/5) — identify top complaint categories and address quality gaps</a:t>
            </a:r>
          </a:p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Expand Marketplace channel investment — already #1 at 27.8% and growing</a:t>
            </a:r>
          </a:p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Plan inventory and promotions ahead of Aug–Sep to maximize peak season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